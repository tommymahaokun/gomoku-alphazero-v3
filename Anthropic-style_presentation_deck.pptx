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303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150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Gargantua is my Gomoku engine: a neural network trained by reinforcement learning, combined with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 scored shapes by hand. Its ceiling was my own pattern list, it missed multi-step tactics, and it played unevenly as black versus white.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parts. The network suggests moves and judges positions. MCTS searches ahead using those suggestions. An exact tactical check runs first, so a certain win or a forced block is never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shipped model in four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Reinforcement learning: the model plays itself, keeps every position with the search result and the game outcome, trains on them, then only replaces the champion if it wins a fair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training is not automatically better. A new model ships only after beating the current one from the same openings as both colors; otherwise it is rolled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47 of 48 is the raw network with no tactical override, which is the honest measure of what it learned. The suites are small, so this is evidence, not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limits and next steps, then offer a live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someone up to play a game against Gargantua.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 the tools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mmyMaHaoKun/gomoku-alphazero-v3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TommyMaHaoKun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143000"/>
            <a:ext cx="133350" cy="133350"/>
          </a:xfrm>
          <a:prstGeom prst="ellipse">
            <a:avLst/>
          </a:prstGeom>
          <a:solidFill>
            <a:srgbClr val="CC785C"/>
          </a:solidFill>
          <a:ln/>
        </p:spPr>
      </p:sp>
      <p:sp>
        <p:nvSpPr>
          <p:cNvPr id="3" name="Text 1"/>
          <p:cNvSpPr/>
          <p:nvPr/>
        </p:nvSpPr>
        <p:spPr>
          <a:xfrm>
            <a:off x="1352550" y="1047750"/>
            <a:ext cx="51758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PROJECT · GOMOKU AI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3480941"/>
            <a:ext cx="11944350" cy="1594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795"/>
              </a:lnSpc>
              <a:buNone/>
            </a:pPr>
            <a:r>
              <a:rPr lang="en-US" sz="12900" kern="0" spc="-258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Gargantua</a:t>
            </a:r>
            <a:endParaRPr lang="en-US" sz="12900" dirty="0"/>
          </a:p>
        </p:txBody>
      </p:sp>
      <p:sp>
        <p:nvSpPr>
          <p:cNvPr id="5" name="Text 3"/>
          <p:cNvSpPr/>
          <p:nvPr/>
        </p:nvSpPr>
        <p:spPr>
          <a:xfrm>
            <a:off x="1047750" y="5380211"/>
            <a:ext cx="8829675" cy="1325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613"/>
              </a:lnSpc>
              <a:buNone/>
            </a:pPr>
            <a:r>
              <a:rPr lang="en-US" sz="39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19×19 Gomoku engine trained by reinforcement learning.</a:t>
            </a:r>
            <a:endParaRPr lang="en-US" sz="3900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8F29DD0-D228-651A-F4A3-D35A1673E670}"/>
              </a:ext>
            </a:extLst>
          </p:cNvPr>
          <p:cNvGrpSpPr/>
          <p:nvPr/>
        </p:nvGrpSpPr>
        <p:grpSpPr>
          <a:xfrm>
            <a:off x="10086975" y="2238375"/>
            <a:ext cx="5810250" cy="5810250"/>
            <a:chOff x="10534650" y="2622797"/>
            <a:chExt cx="5810250" cy="5810250"/>
          </a:xfrm>
        </p:grpSpPr>
        <p:sp>
          <p:nvSpPr>
            <p:cNvPr id="7" name="Shape 5"/>
            <p:cNvSpPr/>
            <p:nvPr/>
          </p:nvSpPr>
          <p:spPr>
            <a:xfrm>
              <a:off x="10706100" y="4726074"/>
              <a:ext cx="5467350" cy="1466850"/>
            </a:xfrm>
            <a:prstGeom prst="roundRect">
              <a:avLst>
                <a:gd name="adj" fmla="val 50000"/>
              </a:avLst>
            </a:prstGeom>
            <a:ln w="19050">
              <a:solidFill>
                <a:srgbClr val="CC785C">
                  <a:alpha val="90000"/>
                </a:srgbClr>
              </a:solidFill>
              <a:prstDash val="solid"/>
            </a:ln>
          </p:spPr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FAC341E4-7AF3-057F-6B47-095985BB8366}"/>
                </a:ext>
              </a:extLst>
            </p:cNvPr>
            <p:cNvGrpSpPr/>
            <p:nvPr/>
          </p:nvGrpSpPr>
          <p:grpSpPr>
            <a:xfrm>
              <a:off x="10534650" y="2622797"/>
              <a:ext cx="5810250" cy="5810250"/>
              <a:chOff x="10854437" y="4397982"/>
              <a:chExt cx="5810250" cy="5810250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11387837" y="6763271"/>
                <a:ext cx="4743450" cy="933450"/>
              </a:xfrm>
              <a:prstGeom prst="roundRect">
                <a:avLst>
                  <a:gd name="adj" fmla="val 50000"/>
                </a:avLst>
              </a:prstGeom>
              <a:ln w="9525">
                <a:solidFill>
                  <a:srgbClr val="CC785C">
                    <a:alpha val="45000"/>
                  </a:srgbClr>
                </a:solidFill>
                <a:prstDash val="solid"/>
              </a:ln>
            </p:spPr>
          </p: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ADED7A36-F719-2A38-5CE2-8583722AFE48}"/>
                  </a:ext>
                </a:extLst>
              </p:cNvPr>
              <p:cNvGrpSpPr/>
              <p:nvPr/>
            </p:nvGrpSpPr>
            <p:grpSpPr>
              <a:xfrm>
                <a:off x="10854437" y="4397982"/>
                <a:ext cx="5810250" cy="5810250"/>
                <a:chOff x="12096750" y="2170286"/>
                <a:chExt cx="5810250" cy="5810250"/>
              </a:xfrm>
            </p:grpSpPr>
            <p:sp>
              <p:nvSpPr>
                <p:cNvPr id="6" name="Shape 4"/>
                <p:cNvSpPr/>
                <p:nvPr/>
              </p:nvSpPr>
              <p:spPr>
                <a:xfrm>
                  <a:off x="12096750" y="2170286"/>
                  <a:ext cx="5810250" cy="581025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785C">
                        <a:alpha val="16000"/>
                      </a:srgbClr>
                    </a:gs>
                    <a:gs pos="62000">
                      <a:srgbClr val="CC785C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/>
              </p:spPr>
              <p:txBody>
                <a:bodyPr/>
                <a:lstStyle/>
                <a:p>
                  <a:endParaRPr lang="zh-CN" altLang="en-US" dirty="0"/>
                </a:p>
              </p:txBody>
            </p:sp>
            <p:sp>
              <p:nvSpPr>
                <p:cNvPr id="9" name="Shape 7"/>
                <p:cNvSpPr/>
                <p:nvPr/>
              </p:nvSpPr>
              <p:spPr>
                <a:xfrm>
                  <a:off x="13906500" y="3979069"/>
                  <a:ext cx="2190750" cy="2190750"/>
                </a:xfrm>
                <a:prstGeom prst="ellipse">
                  <a:avLst/>
                </a:prstGeom>
                <a:solidFill>
                  <a:srgbClr val="0B0B0A"/>
                </a:solidFill>
                <a:ln/>
                <a:effectLst>
                  <a:outerShdw blurRad="101600" dist="50800" dir="16200000" algn="bl" rotWithShape="0">
                    <a:srgbClr val="CC785C">
                      <a:alpha val="95000"/>
                    </a:srgbClr>
                  </a:outerShdw>
                </a:effectLst>
              </p:spPr>
            </p:sp>
            <p:sp>
              <p:nvSpPr>
                <p:cNvPr id="10" name="Shape 8"/>
                <p:cNvSpPr/>
                <p:nvPr/>
              </p:nvSpPr>
              <p:spPr>
                <a:xfrm>
                  <a:off x="12268200" y="4295533"/>
                  <a:ext cx="5467350" cy="1466850"/>
                </a:xfrm>
                <a:prstGeom prst="roundRect">
                  <a:avLst>
                    <a:gd name="adj" fmla="val 50000"/>
                  </a:avLst>
                </a:prstGeom>
                <a:ln w="19050">
                  <a:solidFill>
                    <a:srgbClr val="CC785C">
                      <a:alpha val="9000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 dirty="0"/>
                </a:p>
              </p:txBody>
            </p:sp>
          </p:grpSp>
        </p:grpSp>
      </p:grpSp>
      <p:sp>
        <p:nvSpPr>
          <p:cNvPr id="11" name="Shape 9"/>
          <p:cNvSpPr/>
          <p:nvPr/>
        </p:nvSpPr>
        <p:spPr>
          <a:xfrm>
            <a:off x="1047750" y="8777288"/>
            <a:ext cx="16192500" cy="9525"/>
          </a:xfrm>
          <a:prstGeom prst="rect">
            <a:avLst/>
          </a:prstGeom>
          <a:solidFill>
            <a:srgbClr val="3A3833"/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" y="9072563"/>
            <a:ext cx="3863087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69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Haokun Ma &amp; Zhiqian Shen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MOTIVATION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71650"/>
            <a:ext cx="17811750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440"/>
              </a:lnSpc>
              <a:buNone/>
            </a:pPr>
            <a:r>
              <a:rPr lang="en-US" sz="69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hand-written rules were replaced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047750" y="3606105"/>
            <a:ext cx="4940275" cy="1905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929955"/>
            <a:ext cx="5434303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356"/>
              </a:lnSpc>
              <a:buNone/>
            </a:pPr>
            <a:r>
              <a:rPr lang="en-US" sz="39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ceiling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047750" y="4728121"/>
            <a:ext cx="5088483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927"/>
              </a:lnSpc>
              <a:buNone/>
            </a:pPr>
            <a:r>
              <a:rPr lang="en-US" sz="27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strong as my pattern list, never stronger.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673825" y="3606105"/>
            <a:ext cx="4940275" cy="1905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8" name="Text 6"/>
          <p:cNvSpPr/>
          <p:nvPr/>
        </p:nvSpPr>
        <p:spPr>
          <a:xfrm>
            <a:off x="6673825" y="3929955"/>
            <a:ext cx="5434303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356"/>
              </a:lnSpc>
              <a:buNone/>
            </a:pPr>
            <a:r>
              <a:rPr lang="en-US" sz="39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 sight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6673825" y="4728121"/>
            <a:ext cx="5088483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927"/>
              </a:lnSpc>
              <a:buNone/>
            </a:pPr>
            <a:r>
              <a:rPr lang="en-US" sz="27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scores miss forcing sequences.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299900" y="3606105"/>
            <a:ext cx="4940350" cy="1905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1" name="Text 9"/>
          <p:cNvSpPr/>
          <p:nvPr/>
        </p:nvSpPr>
        <p:spPr>
          <a:xfrm>
            <a:off x="12299900" y="3929955"/>
            <a:ext cx="5434385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356"/>
              </a:lnSpc>
              <a:buNone/>
            </a:pPr>
            <a:r>
              <a:rPr lang="en-US" sz="39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Uneven by color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2299900" y="4728121"/>
            <a:ext cx="508856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927"/>
              </a:lnSpc>
              <a:buNone/>
            </a:pPr>
            <a:r>
              <a:rPr lang="en-US" sz="27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Played worse as white than as black.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HOW IT WORKS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71650"/>
            <a:ext cx="17811750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440"/>
              </a:lnSpc>
              <a:buNone/>
            </a:pPr>
            <a:r>
              <a:rPr lang="en-US" sz="69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parts choose every move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047750" y="3548955"/>
            <a:ext cx="543430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4120455"/>
            <a:ext cx="5434303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250"/>
              </a:lnSpc>
              <a:buNone/>
            </a:pPr>
            <a:r>
              <a:rPr lang="en-US" sz="42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network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47750" y="4954786"/>
            <a:ext cx="5088483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317"/>
              </a:lnSpc>
              <a:buNone/>
            </a:pPr>
            <a:r>
              <a:rPr lang="en-US" sz="27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board, proposes moves and rates the position.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673825" y="3548955"/>
            <a:ext cx="543430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673825" y="4120455"/>
            <a:ext cx="5434303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250"/>
              </a:lnSpc>
              <a:buNone/>
            </a:pPr>
            <a:r>
              <a:rPr lang="en-US" sz="42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Tree search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673825" y="4954786"/>
            <a:ext cx="5088483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317"/>
              </a:lnSpc>
              <a:buNone/>
            </a:pPr>
            <a:r>
              <a:rPr lang="en-US" sz="27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MCTS plays out the network's best ideas before committing.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2299900" y="3548955"/>
            <a:ext cx="54343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299900" y="4120455"/>
            <a:ext cx="543438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250"/>
              </a:lnSpc>
              <a:buNone/>
            </a:pPr>
            <a:r>
              <a:rPr lang="en-US" sz="42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Tactical check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2299900" y="4954786"/>
            <a:ext cx="5088560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317"/>
              </a:lnSpc>
              <a:buNone/>
            </a:pPr>
            <a:r>
              <a:rPr lang="en-US" sz="27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rules catch immediate wins and forced blocks first.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MODEL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71650"/>
            <a:ext cx="17811750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440"/>
              </a:lnSpc>
              <a:buNone/>
            </a:pPr>
            <a:r>
              <a:rPr lang="en-US" sz="69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Gargantua in four numbers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047750" y="3491805"/>
            <a:ext cx="7620000" cy="1905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796605"/>
            <a:ext cx="83820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8250" kern="0" spc="-165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1,641,586</a:t>
            </a:r>
            <a:endParaRPr lang="en-US" sz="8250" dirty="0"/>
          </a:p>
        </p:txBody>
      </p:sp>
      <p:sp>
        <p:nvSpPr>
          <p:cNvPr id="6" name="Text 4"/>
          <p:cNvSpPr/>
          <p:nvPr/>
        </p:nvSpPr>
        <p:spPr>
          <a:xfrm>
            <a:off x="1047750" y="4977705"/>
            <a:ext cx="83820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620250" y="3491805"/>
            <a:ext cx="7620000" cy="1905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8" name="Text 6"/>
          <p:cNvSpPr/>
          <p:nvPr/>
        </p:nvSpPr>
        <p:spPr>
          <a:xfrm>
            <a:off x="9620250" y="3796605"/>
            <a:ext cx="83820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8250" kern="0" spc="-165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</a:t>
            </a:r>
            <a:endParaRPr lang="en-US" sz="8250" dirty="0"/>
          </a:p>
        </p:txBody>
      </p:sp>
      <p:sp>
        <p:nvSpPr>
          <p:cNvPr id="9" name="Text 7"/>
          <p:cNvSpPr/>
          <p:nvPr/>
        </p:nvSpPr>
        <p:spPr>
          <a:xfrm>
            <a:off x="9620250" y="4977705"/>
            <a:ext cx="83820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047750" y="6756053"/>
            <a:ext cx="7620000" cy="1905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7060853"/>
            <a:ext cx="83820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8250" kern="0" spc="-165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8250" dirty="0"/>
          </a:p>
        </p:txBody>
      </p:sp>
      <p:sp>
        <p:nvSpPr>
          <p:cNvPr id="12" name="Text 10"/>
          <p:cNvSpPr/>
          <p:nvPr/>
        </p:nvSpPr>
        <p:spPr>
          <a:xfrm>
            <a:off x="1047750" y="8241953"/>
            <a:ext cx="83820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blocks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620250" y="6756053"/>
            <a:ext cx="7620000" cy="1905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4" name="Text 12"/>
          <p:cNvSpPr/>
          <p:nvPr/>
        </p:nvSpPr>
        <p:spPr>
          <a:xfrm>
            <a:off x="9620250" y="7060853"/>
            <a:ext cx="83820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8250" kern="0" spc="-165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174</a:t>
            </a:r>
            <a:endParaRPr lang="en-US" sz="8250" dirty="0"/>
          </a:p>
        </p:txBody>
      </p:sp>
      <p:sp>
        <p:nvSpPr>
          <p:cNvPr id="15" name="Text 13"/>
          <p:cNvSpPr/>
          <p:nvPr/>
        </p:nvSpPr>
        <p:spPr>
          <a:xfrm>
            <a:off x="9620250" y="8241953"/>
            <a:ext cx="83820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iterations, deployed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TRAINING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71650"/>
            <a:ext cx="17811750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440"/>
              </a:lnSpc>
              <a:buNone/>
            </a:pPr>
            <a:r>
              <a:rPr lang="en-US" sz="69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Reinforcement learning from self-play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047750" y="3072705"/>
            <a:ext cx="1275397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30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human games. The model learns only from the results of playing itself.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47750" y="4825305"/>
            <a:ext cx="3648075" cy="1905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5111055"/>
            <a:ext cx="40128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47750" y="5625405"/>
            <a:ext cx="4012883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881"/>
              </a:lnSpc>
              <a:buNone/>
            </a:pPr>
            <a:r>
              <a:rPr lang="en-US" sz="36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 itself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229225" y="4825305"/>
            <a:ext cx="3648075" cy="1905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9" name="Text 7"/>
          <p:cNvSpPr/>
          <p:nvPr/>
        </p:nvSpPr>
        <p:spPr>
          <a:xfrm>
            <a:off x="5229225" y="5111055"/>
            <a:ext cx="40128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229225" y="5625405"/>
            <a:ext cx="4012883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881"/>
              </a:lnSpc>
              <a:buNone/>
            </a:pPr>
            <a:r>
              <a:rPr lang="en-US" sz="36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the games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9410700" y="4825305"/>
            <a:ext cx="3648075" cy="1905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12" name="Text 10"/>
          <p:cNvSpPr/>
          <p:nvPr/>
        </p:nvSpPr>
        <p:spPr>
          <a:xfrm>
            <a:off x="9410700" y="5111055"/>
            <a:ext cx="40128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410700" y="5625405"/>
            <a:ext cx="4012883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881"/>
              </a:lnSpc>
              <a:buNone/>
            </a:pPr>
            <a:r>
              <a:rPr lang="en-US" sz="36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on them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13592175" y="4825305"/>
            <a:ext cx="3648075" cy="1905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15" name="Text 13"/>
          <p:cNvSpPr/>
          <p:nvPr/>
        </p:nvSpPr>
        <p:spPr>
          <a:xfrm>
            <a:off x="13592175" y="5111055"/>
            <a:ext cx="40128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592175" y="5625405"/>
            <a:ext cx="3757517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881"/>
              </a:lnSpc>
              <a:buNone/>
            </a:pPr>
            <a:r>
              <a:rPr lang="en-US" sz="36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only if it wins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1047750" y="8672513"/>
            <a:ext cx="16192500" cy="9525"/>
          </a:xfrm>
          <a:prstGeom prst="rect">
            <a:avLst/>
          </a:prstGeom>
          <a:solidFill>
            <a:srgbClr val="3A3833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9005888"/>
            <a:ext cx="16678275" cy="481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969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a rented RTX 5090 GPU on the AutoDL cloud platform.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STABILITY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71650"/>
            <a:ext cx="15192375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440"/>
              </a:lnSpc>
              <a:buNone/>
            </a:pPr>
            <a:r>
              <a:rPr lang="en-US" sz="69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longer run is not a better model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047750" y="3753743"/>
            <a:ext cx="39625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10705" y="3606105"/>
            <a:ext cx="10407350" cy="5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157"/>
              </a:lnSpc>
              <a:buNone/>
            </a:pPr>
            <a:r>
              <a:rPr lang="en-US" sz="3300" dirty="0">
                <a:solidFill>
                  <a:srgbClr val="F0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must win a fair match as both colors.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047750" y="4793828"/>
            <a:ext cx="39625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10705" y="4646191"/>
            <a:ext cx="10003475" cy="5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157"/>
              </a:lnSpc>
              <a:buNone/>
            </a:pPr>
            <a:r>
              <a:rPr lang="en-US" sz="3300" dirty="0">
                <a:solidFill>
                  <a:srgbClr val="F0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are rolled back to the accepted model.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47750" y="5833914"/>
            <a:ext cx="39625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10705" y="5686276"/>
            <a:ext cx="10306831" cy="5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157"/>
              </a:lnSpc>
              <a:buNone/>
            </a:pPr>
            <a:r>
              <a:rPr lang="en-US" sz="3300" dirty="0">
                <a:solidFill>
                  <a:srgbClr val="F0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checkpoints were built — and not shipped.</a:t>
            </a:r>
            <a:endParaRPr lang="en-US" sz="3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RESULTS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71650"/>
            <a:ext cx="17811750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440"/>
              </a:lnSpc>
              <a:buNone/>
            </a:pPr>
            <a:r>
              <a:rPr lang="en-US" sz="69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Tested, not just trained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047750" y="3548955"/>
            <a:ext cx="7572375" cy="1905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891855"/>
            <a:ext cx="8329613" cy="166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619"/>
              </a:lnSpc>
              <a:buNone/>
            </a:pPr>
            <a:r>
              <a:rPr lang="en-US" sz="13500" kern="0" spc="-27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47/48</a:t>
            </a:r>
            <a:endParaRPr lang="en-US" sz="13500" dirty="0"/>
          </a:p>
        </p:txBody>
      </p:sp>
      <p:sp>
        <p:nvSpPr>
          <p:cNvPr id="6" name="Text 4"/>
          <p:cNvSpPr/>
          <p:nvPr/>
        </p:nvSpPr>
        <p:spPr>
          <a:xfrm>
            <a:off x="1047750" y="5711130"/>
            <a:ext cx="83296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30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positions, network alone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667875" y="3548955"/>
            <a:ext cx="7572375" cy="1905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8" name="Text 6"/>
          <p:cNvSpPr/>
          <p:nvPr/>
        </p:nvSpPr>
        <p:spPr>
          <a:xfrm>
            <a:off x="9667875" y="3891855"/>
            <a:ext cx="8329613" cy="166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619"/>
              </a:lnSpc>
              <a:buNone/>
            </a:pPr>
            <a:r>
              <a:rPr lang="en-US" sz="13500" kern="0" spc="-27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16/18</a:t>
            </a:r>
            <a:endParaRPr lang="en-US" sz="13500" dirty="0"/>
          </a:p>
        </p:txBody>
      </p:sp>
      <p:sp>
        <p:nvSpPr>
          <p:cNvPr id="9" name="Text 7"/>
          <p:cNvSpPr/>
          <p:nvPr/>
        </p:nvSpPr>
        <p:spPr>
          <a:xfrm>
            <a:off x="9667875" y="5711130"/>
            <a:ext cx="83296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30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white-defense positions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047750" y="8696325"/>
            <a:ext cx="16192500" cy="9525"/>
          </a:xfrm>
          <a:prstGeom prst="rect">
            <a:avLst/>
          </a:prstGeom>
          <a:solidFill>
            <a:srgbClr val="3A3833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9029700"/>
            <a:ext cx="1667827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969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fixed test sets — strong evidence, not a proof of invincibility.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LIMITS AND NEXT STEPS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71650"/>
            <a:ext cx="8329613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585"/>
              </a:lnSpc>
              <a:buNone/>
            </a:pPr>
            <a:r>
              <a:rPr lang="en-US" sz="54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47750" y="2906985"/>
            <a:ext cx="83296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30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test sets.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7750" y="3802335"/>
            <a:ext cx="83296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30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to think on CPU.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50" y="4697685"/>
            <a:ext cx="83296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30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Freestyle rules only.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67875" y="1771650"/>
            <a:ext cx="8329613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585"/>
              </a:lnSpc>
              <a:buNone/>
            </a:pPr>
            <a:r>
              <a:rPr lang="en-US" sz="54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667875" y="2906985"/>
            <a:ext cx="83296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30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Bigger, balanced test suite.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667875" y="3802335"/>
            <a:ext cx="83296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30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search per move.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67875" y="4697685"/>
            <a:ext cx="83296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30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levels.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047750" y="8262938"/>
            <a:ext cx="16192500" cy="9525"/>
          </a:xfrm>
          <a:prstGeom prst="rect">
            <a:avLst/>
          </a:prstGeom>
          <a:solidFill>
            <a:srgbClr val="3A3833"/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" y="8615363"/>
            <a:ext cx="82981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</a:t>
            </a:r>
            <a:endParaRPr lang="en-US" sz="1950" dirty="0"/>
          </a:p>
        </p:txBody>
      </p:sp>
      <p:sp>
        <p:nvSpPr>
          <p:cNvPr id="13" name="Text 11">
            <a:hlinkClick r:id="rId3"/>
          </p:cNvPr>
          <p:cNvSpPr/>
          <p:nvPr/>
        </p:nvSpPr>
        <p:spPr>
          <a:xfrm>
            <a:off x="1047750" y="9072563"/>
            <a:ext cx="829818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u="sng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github.com/TommyMaHaoKun/gomoku-alphazero-v3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6170399" y="8615363"/>
            <a:ext cx="114605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1950" dirty="0"/>
          </a:p>
        </p:txBody>
      </p:sp>
      <p:sp>
        <p:nvSpPr>
          <p:cNvPr id="15" name="Text 13">
            <a:hlinkClick r:id="rId4"/>
          </p:cNvPr>
          <p:cNvSpPr/>
          <p:nvPr/>
        </p:nvSpPr>
        <p:spPr>
          <a:xfrm>
            <a:off x="13125450" y="9072563"/>
            <a:ext cx="452628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u="sng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github.com/TommyMaHaoKun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5750" y="2462213"/>
            <a:ext cx="2476500" cy="2476500"/>
          </a:xfrm>
          <a:prstGeom prst="ellipse">
            <a:avLst/>
          </a:prstGeom>
          <a:gradFill rotWithShape="1">
            <a:gsLst>
              <a:gs pos="0">
                <a:srgbClr val="CC785C">
                  <a:alpha val="18000"/>
                </a:srgbClr>
              </a:gs>
              <a:gs pos="62000">
                <a:srgbClr val="CC785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39100" y="3386138"/>
            <a:ext cx="2209800" cy="628650"/>
          </a:xfrm>
          <a:prstGeom prst="roundRect">
            <a:avLst>
              <a:gd name="adj" fmla="val 50000"/>
            </a:avLst>
          </a:prstGeom>
          <a:ln w="19050">
            <a:solidFill>
              <a:srgbClr val="CC785C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24900" y="3281363"/>
            <a:ext cx="838200" cy="838200"/>
          </a:xfrm>
          <a:prstGeom prst="ellipse">
            <a:avLst/>
          </a:prstGeom>
          <a:solidFill>
            <a:srgbClr val="0B0B0A"/>
          </a:solidFill>
          <a:ln/>
          <a:effectLst>
            <a:outerShdw blurRad="101600" dist="50800" dir="16200000" algn="bl" rotWithShape="0">
              <a:srgbClr val="CC785C">
                <a:alpha val="9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39100" y="3386138"/>
            <a:ext cx="2209800" cy="628650"/>
          </a:xfrm>
          <a:prstGeom prst="roundRect">
            <a:avLst>
              <a:gd name="adj" fmla="val 50000"/>
            </a:avLst>
          </a:prstGeom>
          <a:ln w="19050">
            <a:solidFill>
              <a:srgbClr val="CC785C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96031" y="5091113"/>
            <a:ext cx="12095864" cy="2390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3587"/>
              </a:lnSpc>
              <a:buNone/>
            </a:pPr>
            <a:r>
              <a:rPr lang="en-US" sz="19500" kern="0" spc="-585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 Time!</a:t>
            </a:r>
            <a:endParaRPr lang="en-US" sz="19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76550" y="3250927"/>
            <a:ext cx="10958319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876550" y="3770040"/>
            <a:ext cx="10958319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152"/>
              </a:lnSpc>
              <a:buNone/>
            </a:pPr>
            <a:r>
              <a:rPr lang="en-US" sz="7800" kern="0" spc="-156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Assisted by GPT-5.6 Sol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2876550" y="5476875"/>
            <a:ext cx="14340751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876550" y="5995988"/>
            <a:ext cx="14340751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152"/>
              </a:lnSpc>
              <a:buNone/>
            </a:pPr>
            <a:r>
              <a:rPr lang="en-US" sz="7800" kern="0" spc="-156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Made by Claude Design Opus 5</a:t>
            </a:r>
            <a:endParaRPr lang="en-US" sz="78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8A06A86-B822-403A-A051-65D71BA51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31902"/>
            <a:ext cx="1416323" cy="1416323"/>
          </a:xfrm>
          <a:prstGeom prst="rect">
            <a:avLst/>
          </a:prstGeom>
        </p:spPr>
      </p:pic>
      <p:pic>
        <p:nvPicPr>
          <p:cNvPr id="8" name="图片 7" descr="Nick Pattison on X: &quot;Just realized the Claude logo is Kurt Vonnegut's  drawing of an asshole and now I can't unsee it&quot; / X">
            <a:extLst>
              <a:ext uri="{FF2B5EF4-FFF2-40B4-BE49-F238E27FC236}">
                <a16:creationId xmlns:a16="http://schemas.microsoft.com/office/drawing/2014/main" id="{B11C43C8-2B61-0700-2960-88AE9DBCF2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5010" y="5476875"/>
            <a:ext cx="2535102" cy="25351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548</Words>
  <Application>Microsoft Office PowerPoint</Application>
  <PresentationFormat>自定义</PresentationFormat>
  <Paragraphs>98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Tommy Ma</cp:lastModifiedBy>
  <cp:revision>4</cp:revision>
  <dcterms:created xsi:type="dcterms:W3CDTF">2026-07-30T16:15:19Z</dcterms:created>
  <dcterms:modified xsi:type="dcterms:W3CDTF">2026-07-30T17:19:06Z</dcterms:modified>
</cp:coreProperties>
</file>