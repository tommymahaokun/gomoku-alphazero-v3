
<file path=[Content_Types].xml><?xml version="1.0" encoding="utf-8"?>
<Types xmlns="http://schemas.openxmlformats.org/package/2006/content-types">
  <Default Extension="bin" ContentType="image/unknown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95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Gargantua is my Gomoku engine: a neural network trained by reinforcement learning, combined with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One-paragraph summary: what was built, how it was trained, and how it was judged.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scored shapes by hand. Its ceiling was my own pattern list, it missed multi-step tactics, and it played unevenly as black versus white.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parts. The network suggests moves and judges positions. MCTS searches ahead using those suggestions. An exact tactical check runs first, so a certain win or a forced block is never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shipped model in four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learning: the model plays itself, keeps every position with the search result and the game outcome, trains on them, then only replaces the champion if it wins a fair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training is not automatically better. A new model ships only after beating the current one from the same openings as both colors; otherwise it is rolled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 of 48 is the raw network with no tactical override, which is the honest measure of what it learned. The suites are small, so this is evidence, not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limits and next steps, then offer a live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closing points: it plays both colors, the honest measure is the raw network, and the discipline is what makes it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someone up to play a game against Gargantua.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the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mmyMaHaoKun/gomoku-alphazero-v3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TommyMaHaoKun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71750" y="7505700"/>
            <a:ext cx="495300" cy="495300"/>
          </a:xfrm>
          <a:prstGeom prst="ellipse">
            <a:avLst/>
          </a:prstGeom>
          <a:solidFill>
            <a:srgbClr val="0B0B0A">
              <a:alpha val="90000"/>
            </a:srgbClr>
          </a:solidFill>
          <a:ln/>
          <a:effectLst>
            <a:outerShdw blurRad="101600" dist="50800" dir="16200000" algn="bl" rotWithShape="0">
              <a:srgbClr val="CC785C">
                <a:alpha val="45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276600" y="6800850"/>
            <a:ext cx="495300" cy="495300"/>
          </a:xfrm>
          <a:prstGeom prst="ellipse">
            <a:avLst/>
          </a:prstGeom>
          <a:solidFill>
            <a:srgbClr val="E6E2D6">
              <a:alpha val="7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866900" y="7505700"/>
            <a:ext cx="495300" cy="495300"/>
          </a:xfrm>
          <a:prstGeom prst="ellipse">
            <a:avLst/>
          </a:prstGeom>
          <a:solidFill>
            <a:srgbClr val="0B0B0A">
              <a:alpha val="60000"/>
            </a:srgbClr>
          </a:solidFill>
          <a:ln/>
          <a:effectLst>
            <a:outerShdw blurRad="101600" dist="50800" dir="16200000" algn="bl" rotWithShape="0">
              <a:srgbClr val="CC785C">
                <a:alpha val="21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71750" y="6800850"/>
            <a:ext cx="495300" cy="495300"/>
          </a:xfrm>
          <a:prstGeom prst="ellipse">
            <a:avLst/>
          </a:prstGeom>
          <a:solidFill>
            <a:srgbClr val="0B0B0A">
              <a:alpha val="85000"/>
            </a:srgbClr>
          </a:solidFill>
          <a:ln/>
          <a:effectLst>
            <a:outerShdw blurRad="101600" dist="50800" dir="16200000" algn="bl" rotWithShape="0">
              <a:srgbClr val="CC785C">
                <a:alpha val="3825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76600" y="7505700"/>
            <a:ext cx="495300" cy="495300"/>
          </a:xfrm>
          <a:prstGeom prst="ellipse">
            <a:avLst/>
          </a:prstGeom>
          <a:solidFill>
            <a:srgbClr val="E6E2D6">
              <a:alpha val="4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1143000"/>
            <a:ext cx="133350" cy="133350"/>
          </a:xfrm>
          <a:prstGeom prst="ellipse">
            <a:avLst/>
          </a:prstGeom>
          <a:solidFill>
            <a:srgbClr val="CC785C"/>
          </a:solidFill>
          <a:ln/>
        </p:spPr>
      </p:sp>
      <p:sp>
        <p:nvSpPr>
          <p:cNvPr id="9" name="Text 6"/>
          <p:cNvSpPr/>
          <p:nvPr/>
        </p:nvSpPr>
        <p:spPr>
          <a:xfrm>
            <a:off x="1352550" y="1047750"/>
            <a:ext cx="51758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PROJECT · GOMOKU AI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47750" y="3480941"/>
            <a:ext cx="11944350" cy="159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795"/>
              </a:lnSpc>
              <a:buNone/>
            </a:pPr>
            <a:r>
              <a:rPr lang="en-US" sz="12900" kern="0" spc="-258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Gargantua</a:t>
            </a:r>
            <a:endParaRPr lang="en-US" sz="12900" dirty="0"/>
          </a:p>
        </p:txBody>
      </p:sp>
      <p:sp>
        <p:nvSpPr>
          <p:cNvPr id="11" name="Text 8"/>
          <p:cNvSpPr/>
          <p:nvPr/>
        </p:nvSpPr>
        <p:spPr>
          <a:xfrm>
            <a:off x="1047750" y="5380211"/>
            <a:ext cx="8829675" cy="1325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613"/>
              </a:lnSpc>
              <a:buNone/>
            </a:pPr>
            <a:r>
              <a:rPr lang="en-US" sz="39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19×19 Gomoku engine trained by reinforcement learning.</a:t>
            </a:r>
            <a:endParaRPr lang="en-US" sz="3900" dirty="0"/>
          </a:p>
        </p:txBody>
      </p:sp>
      <p:sp>
        <p:nvSpPr>
          <p:cNvPr id="12" name="Shape 9"/>
          <p:cNvSpPr/>
          <p:nvPr/>
        </p:nvSpPr>
        <p:spPr>
          <a:xfrm>
            <a:off x="12096750" y="2169319"/>
            <a:ext cx="5810250" cy="5810250"/>
          </a:xfrm>
          <a:prstGeom prst="ellipse">
            <a:avLst/>
          </a:prstGeom>
          <a:gradFill rotWithShape="1">
            <a:gsLst>
              <a:gs pos="0">
                <a:srgbClr val="CC785C">
                  <a:alpha val="16000"/>
                </a:srgbClr>
              </a:gs>
              <a:gs pos="62000">
                <a:srgbClr val="CC78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68200" y="2836069"/>
            <a:ext cx="5467350" cy="4476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906500" y="3979069"/>
            <a:ext cx="2190750" cy="2190750"/>
          </a:xfrm>
          <a:prstGeom prst="ellipse">
            <a:avLst/>
          </a:prstGeom>
          <a:solidFill>
            <a:srgbClr val="0B0B0A"/>
          </a:solidFill>
          <a:ln/>
          <a:effectLst>
            <a:outerShdw blurRad="101600" dist="50800" dir="16200000" algn="bl" rotWithShape="0">
              <a:srgbClr val="CC785C">
                <a:alpha val="9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68200" y="2836069"/>
            <a:ext cx="5467350" cy="4476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7750" y="9072563"/>
            <a:ext cx="3863087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69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Haokun Ma &amp; Zhiqian Shen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6678275" cy="1878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learned Gomoku opponent, conservatively shipped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4183261"/>
            <a:ext cx="15304770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4"/>
              </a:lnSpc>
              <a:buNone/>
            </a:pPr>
            <a:r>
              <a:rPr lang="en-US" sz="33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Gargantua replaces a hand-written pattern engine with a neural network trained by reinforcement learning from self-play, guided at play time by tree search and exact tactical checks.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047750" y="6324302"/>
            <a:ext cx="15304770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784"/>
              </a:lnSpc>
              <a:buNone/>
            </a:pPr>
            <a:r>
              <a:rPr lang="en-US" sz="33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ships only after beating the current model from shared openings as both colors — so the deployed version is the most reliable one, not the longest-trained one.</a:t>
            </a:r>
            <a:endParaRPr lang="en-US" sz="3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 · 01 MOTIVATION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hand-written rules were replaced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47750" y="3606105"/>
            <a:ext cx="49402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929955"/>
            <a:ext cx="543430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6"/>
              </a:lnSpc>
              <a:buNone/>
            </a:pPr>
            <a:r>
              <a:rPr lang="en-US" sz="3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ceiling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47750" y="4728121"/>
            <a:ext cx="5088483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strong as my pattern list, never stronger.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673825" y="3606105"/>
            <a:ext cx="49402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6673825" y="3929955"/>
            <a:ext cx="543430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6"/>
              </a:lnSpc>
              <a:buNone/>
            </a:pPr>
            <a:r>
              <a:rPr lang="en-US" sz="3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 sight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673825" y="4728121"/>
            <a:ext cx="5088483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scores miss forcing sequences.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299900" y="3606105"/>
            <a:ext cx="494035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1" name="Text 9"/>
          <p:cNvSpPr/>
          <p:nvPr/>
        </p:nvSpPr>
        <p:spPr>
          <a:xfrm>
            <a:off x="12299900" y="3929955"/>
            <a:ext cx="543438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6"/>
              </a:lnSpc>
              <a:buNone/>
            </a:pPr>
            <a:r>
              <a:rPr lang="en-US" sz="3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Uneven by color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299900" y="4728121"/>
            <a:ext cx="508856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92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Played worse as white than as black.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· 02 HOW IT WORKS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parts choose every move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548955"/>
            <a:ext cx="54343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4120455"/>
            <a:ext cx="5434303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4954786"/>
            <a:ext cx="5088483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1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board, proposes moves and rates the position.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673825" y="3548955"/>
            <a:ext cx="543430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73825" y="4120455"/>
            <a:ext cx="5434303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search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673825" y="4954786"/>
            <a:ext cx="5088483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1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MCTS plays out the network's best ideas before committing.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299900" y="3548955"/>
            <a:ext cx="54343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195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2299900" y="4120455"/>
            <a:ext cx="543438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250"/>
              </a:lnSpc>
              <a:buNone/>
            </a:pPr>
            <a:r>
              <a:rPr lang="en-US" sz="42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 check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2299900" y="4954786"/>
            <a:ext cx="508856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317"/>
              </a:lnSpc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rules catch immediate wins and forced blocks first.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· 03 MODEL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Gargantua in four numbers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47750" y="3491805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796605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1,641,586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047750" y="4977705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620250" y="3491805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9620250" y="3796605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8250" dirty="0"/>
          </a:p>
        </p:txBody>
      </p:sp>
      <p:sp>
        <p:nvSpPr>
          <p:cNvPr id="9" name="Text 7"/>
          <p:cNvSpPr/>
          <p:nvPr/>
        </p:nvSpPr>
        <p:spPr>
          <a:xfrm>
            <a:off x="9620250" y="4977705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47750" y="6756053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7060853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8250" dirty="0"/>
          </a:p>
        </p:txBody>
      </p:sp>
      <p:sp>
        <p:nvSpPr>
          <p:cNvPr id="12" name="Text 10"/>
          <p:cNvSpPr/>
          <p:nvPr/>
        </p:nvSpPr>
        <p:spPr>
          <a:xfrm>
            <a:off x="1047750" y="8241953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blocks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620250" y="6756053"/>
            <a:ext cx="7620000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7060853"/>
            <a:ext cx="83820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8250" kern="0" spc="-16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</a:t>
            </a:r>
            <a:endParaRPr lang="en-US" sz="8250" dirty="0"/>
          </a:p>
        </p:txBody>
      </p:sp>
      <p:sp>
        <p:nvSpPr>
          <p:cNvPr id="15" name="Text 13"/>
          <p:cNvSpPr/>
          <p:nvPr/>
        </p:nvSpPr>
        <p:spPr>
          <a:xfrm>
            <a:off x="9620250" y="8241953"/>
            <a:ext cx="8382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iterations, deployed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· 04 TRAINING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 from self-play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072705"/>
            <a:ext cx="127539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games. The model learns only from the results of playing itself.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5625405"/>
            <a:ext cx="40128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itself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229225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9" name="Text 7"/>
          <p:cNvSpPr/>
          <p:nvPr/>
        </p:nvSpPr>
        <p:spPr>
          <a:xfrm>
            <a:off x="5229225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29225" y="5625405"/>
            <a:ext cx="40128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the games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9410700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2" name="Text 10"/>
          <p:cNvSpPr/>
          <p:nvPr/>
        </p:nvSpPr>
        <p:spPr>
          <a:xfrm>
            <a:off x="9410700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10700" y="5625405"/>
            <a:ext cx="4012883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on them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3592175" y="4825305"/>
            <a:ext cx="3648075" cy="19050"/>
          </a:xfrm>
          <a:prstGeom prst="rect">
            <a:avLst/>
          </a:prstGeom>
          <a:solidFill>
            <a:srgbClr val="F0EEE6"/>
          </a:solidFill>
          <a:ln/>
        </p:spPr>
      </p:sp>
      <p:sp>
        <p:nvSpPr>
          <p:cNvPr id="15" name="Text 13"/>
          <p:cNvSpPr/>
          <p:nvPr/>
        </p:nvSpPr>
        <p:spPr>
          <a:xfrm>
            <a:off x="13592175" y="5111055"/>
            <a:ext cx="4012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592175" y="5625405"/>
            <a:ext cx="3757517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881"/>
              </a:lnSpc>
              <a:buNone/>
            </a:pPr>
            <a:r>
              <a:rPr lang="en-US" sz="36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only if it wins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047750" y="8672513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9005888"/>
            <a:ext cx="16678275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969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a rented RTX 5090 GPU on the AutoDL cloud platform.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· 05 STABILITY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5192375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longer run is not a better model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753743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10705" y="3606105"/>
            <a:ext cx="10407350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must win a fair match as both colors.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47750" y="4793828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10705" y="4646191"/>
            <a:ext cx="10003475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are rolled back to the accepted model.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5833914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10705" y="5686276"/>
            <a:ext cx="10306831" cy="582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157"/>
              </a:lnSpc>
              <a:buNone/>
            </a:pPr>
            <a:r>
              <a:rPr lang="en-US" sz="330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checkpoints were built — and not shipped.</a:t>
            </a:r>
            <a:endParaRPr lang="en-US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· 06 EVALUATION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Tested, not just trained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047750" y="3548955"/>
            <a:ext cx="75723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3891855"/>
            <a:ext cx="8329613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619"/>
              </a:lnSpc>
              <a:buNone/>
            </a:pPr>
            <a:r>
              <a:rPr lang="en-US" sz="13500" kern="0" spc="-27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47/48</a:t>
            </a:r>
            <a:endParaRPr lang="en-US" sz="13500" dirty="0"/>
          </a:p>
        </p:txBody>
      </p:sp>
      <p:sp>
        <p:nvSpPr>
          <p:cNvPr id="6" name="Text 4"/>
          <p:cNvSpPr/>
          <p:nvPr/>
        </p:nvSpPr>
        <p:spPr>
          <a:xfrm>
            <a:off x="1047750" y="5711130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positions, network alone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667875" y="3548955"/>
            <a:ext cx="7572375" cy="1905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8" name="Text 6"/>
          <p:cNvSpPr/>
          <p:nvPr/>
        </p:nvSpPr>
        <p:spPr>
          <a:xfrm>
            <a:off x="9667875" y="3891855"/>
            <a:ext cx="8329613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619"/>
              </a:lnSpc>
              <a:buNone/>
            </a:pPr>
            <a:r>
              <a:rPr lang="en-US" sz="13500" kern="0" spc="-27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16/18</a:t>
            </a:r>
            <a:endParaRPr lang="en-US" sz="13500" dirty="0"/>
          </a:p>
        </p:txBody>
      </p:sp>
      <p:sp>
        <p:nvSpPr>
          <p:cNvPr id="9" name="Text 7"/>
          <p:cNvSpPr/>
          <p:nvPr/>
        </p:nvSpPr>
        <p:spPr>
          <a:xfrm>
            <a:off x="9667875" y="5711130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white-defense positions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047750" y="8696325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9029700"/>
            <a:ext cx="166782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9690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fixed test sets — strong evidence, not a proof of invincibility.</a:t>
            </a:r>
            <a:endParaRPr lang="en-US" sz="2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 · 07 LIMITS AND NEXT STEPS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8329613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85"/>
              </a:lnSpc>
              <a:buNone/>
            </a:pPr>
            <a:r>
              <a:rPr lang="en-US" sz="54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47750" y="29069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test sets.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7750" y="380233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to think on CPU.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46976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Freestyle rules only.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67875" y="1771650"/>
            <a:ext cx="8329613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585"/>
              </a:lnSpc>
              <a:buNone/>
            </a:pPr>
            <a:r>
              <a:rPr lang="en-US" sz="54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667875" y="29069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Bigger, balanced test suite.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67875" y="380233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search per move.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67875" y="4697685"/>
            <a:ext cx="832961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BDB9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levels.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262938"/>
            <a:ext cx="16192500" cy="9525"/>
          </a:xfrm>
          <a:prstGeom prst="rect">
            <a:avLst/>
          </a:prstGeom>
          <a:solidFill>
            <a:srgbClr val="3A3833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15363"/>
            <a:ext cx="82981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95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1047750" y="9072563"/>
            <a:ext cx="829818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u="sng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github.com/TommyMaHaoKun/gomoku-alphazero-v3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6170399" y="8615363"/>
            <a:ext cx="11460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3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95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3125450" y="9072563"/>
            <a:ext cx="452628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u="sng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github.com/TommyMaHaoKun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 · 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71650"/>
            <a:ext cx="1781175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40"/>
              </a:lnSpc>
              <a:buNone/>
            </a:pPr>
            <a:r>
              <a:rPr lang="en-US" sz="6900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project shows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3710880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10705" y="3548955"/>
            <a:ext cx="1118260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05"/>
              </a:lnSpc>
              <a:buNone/>
            </a:pPr>
            <a:r>
              <a:rPr lang="en-US" sz="345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plus search beats hand-written patterns.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047750" y="4813846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10705" y="4651921"/>
            <a:ext cx="12942741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05"/>
              </a:lnSpc>
              <a:buNone/>
            </a:pPr>
            <a:r>
              <a:rPr lang="en-US" sz="345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plays either color and handles the tactics it is tested on.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047750" y="5916811"/>
            <a:ext cx="3962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CC7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10705" y="5754886"/>
            <a:ext cx="13222278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905"/>
              </a:lnSpc>
              <a:buNone/>
            </a:pPr>
            <a:r>
              <a:rPr lang="en-US" sz="3450" dirty="0">
                <a:solidFill>
                  <a:srgbClr val="F0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Careful evaluation, not training time, decided what shipped.</a:t>
            </a:r>
            <a:endParaRPr lang="en-US" sz="3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5750" y="2462213"/>
            <a:ext cx="2476500" cy="2476500"/>
          </a:xfrm>
          <a:prstGeom prst="ellipse">
            <a:avLst/>
          </a:prstGeom>
          <a:gradFill rotWithShape="1">
            <a:gsLst>
              <a:gs pos="0">
                <a:srgbClr val="CC785C">
                  <a:alpha val="18000"/>
                </a:srgbClr>
              </a:gs>
              <a:gs pos="62000">
                <a:srgbClr val="CC78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100" y="2843213"/>
            <a:ext cx="2209800" cy="1714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24900" y="3281363"/>
            <a:ext cx="838200" cy="838200"/>
          </a:xfrm>
          <a:prstGeom prst="ellipse">
            <a:avLst/>
          </a:prstGeom>
          <a:solidFill>
            <a:srgbClr val="0B0B0A"/>
          </a:solidFill>
          <a:ln/>
          <a:effectLst>
            <a:outerShdw blurRad="101600" dist="50800" dir="16200000" algn="bl" rotWithShape="0">
              <a:srgbClr val="CC785C">
                <a:alpha val="95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100" y="2843213"/>
            <a:ext cx="2209800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96031" y="5091113"/>
            <a:ext cx="12095864" cy="239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3587"/>
              </a:lnSpc>
              <a:buNone/>
            </a:pPr>
            <a:r>
              <a:rPr lang="en-US" sz="19500" kern="0" spc="-585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Time!</a:t>
            </a:r>
            <a:endParaRPr lang="en-US" sz="19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57150" y="5302523"/>
            <a:ext cx="3231877" cy="3231877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76481" y="3443808"/>
            <a:ext cx="133350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76550" y="3250927"/>
            <a:ext cx="10958319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876550" y="3770040"/>
            <a:ext cx="10958319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152"/>
              </a:lnSpc>
              <a:buNone/>
            </a:pPr>
            <a:r>
              <a:rPr lang="en-US" sz="7800" kern="0" spc="-156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Assisted by GPT-5.6 Sol</a:t>
            </a:r>
          </a:p>
          <a:p>
            <a:pPr marL="0" indent="0" algn="l">
              <a:lnSpc>
                <a:spcPct val="92152"/>
              </a:lnSpc>
              <a:buNone/>
            </a:pPr>
            <a:endParaRPr lang="en-US" sz="7800" dirty="0"/>
          </a:p>
        </p:txBody>
      </p:sp>
      <p:sp>
        <p:nvSpPr>
          <p:cNvPr id="8" name="Text 4"/>
          <p:cNvSpPr/>
          <p:nvPr/>
        </p:nvSpPr>
        <p:spPr>
          <a:xfrm>
            <a:off x="2876550" y="5476875"/>
            <a:ext cx="1434075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969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2876550" y="5995988"/>
            <a:ext cx="14340751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152"/>
              </a:lnSpc>
              <a:buNone/>
            </a:pPr>
            <a:r>
              <a:rPr lang="en-US" sz="7800" kern="0" spc="-156" dirty="0">
                <a:solidFill>
                  <a:srgbClr val="F0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by Claude Design Opus 5</a:t>
            </a:r>
            <a:endParaRPr lang="en-US" sz="7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710</Words>
  <Application>Microsoft Office PowerPoint</Application>
  <PresentationFormat>自定义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Courier New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Tommy Ma</cp:lastModifiedBy>
  <cp:revision>3</cp:revision>
  <dcterms:created xsi:type="dcterms:W3CDTF">2026-07-30T17:50:09Z</dcterms:created>
  <dcterms:modified xsi:type="dcterms:W3CDTF">2026-07-30T19:10:32Z</dcterms:modified>
</cp:coreProperties>
</file>